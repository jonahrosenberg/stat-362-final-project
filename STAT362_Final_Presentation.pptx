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4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2" y="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1D5DB"/>
              </a:solidFill>
            </c:spPr>
            <c:extLst>
              <c:ext xmlns:c16="http://schemas.microsoft.com/office/drawing/2014/chart" uri="{C3380CC4-5D6E-409C-BE32-E72D297353CC}">
                <c16:uniqueId val="{00000001-B9D6-45D4-B06B-BA28D3195DAC}"/>
              </c:ext>
            </c:extLst>
          </c:dPt>
          <c:dPt>
            <c:idx val="1"/>
            <c:invertIfNegative val="1"/>
            <c:bubble3D val="0"/>
            <c:spPr>
              <a:solidFill>
                <a:srgbClr val="9CA3AF"/>
              </a:solidFill>
            </c:spPr>
            <c:extLst>
              <c:ext xmlns:c16="http://schemas.microsoft.com/office/drawing/2014/chart" uri="{C3380CC4-5D6E-409C-BE32-E72D297353CC}">
                <c16:uniqueId val="{00000003-B9D6-45D4-B06B-BA28D3195DAC}"/>
              </c:ext>
            </c:extLst>
          </c:dPt>
          <c:dPt>
            <c:idx val="2"/>
            <c:invertIfNegative val="1"/>
            <c:bubble3D val="0"/>
            <c:spPr>
              <a:solidFill>
                <a:srgbClr val="9CA3AF"/>
              </a:solidFill>
            </c:spPr>
            <c:extLst>
              <c:ext xmlns:c16="http://schemas.microsoft.com/office/drawing/2014/chart" uri="{C3380CC4-5D6E-409C-BE32-E72D297353CC}">
                <c16:uniqueId val="{00000005-B9D6-45D4-B06B-BA28D3195DAC}"/>
              </c:ext>
            </c:extLst>
          </c:dPt>
          <c:dPt>
            <c:idx val="3"/>
            <c:invertIfNegative val="1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7-B9D6-45D4-B06B-BA28D3195DAC}"/>
              </c:ext>
            </c:extLst>
          </c:dPt>
          <c:dPt>
            <c:idx val="4"/>
            <c:invertIfNegative val="1"/>
            <c:bubble3D val="0"/>
            <c:spPr>
              <a:solidFill>
                <a:srgbClr val="9CA3AF"/>
              </a:solidFill>
            </c:spPr>
            <c:extLst>
              <c:ext xmlns:c16="http://schemas.microsoft.com/office/drawing/2014/chart" uri="{C3380CC4-5D6E-409C-BE32-E72D297353CC}">
                <c16:uniqueId val="{00000009-B9D6-45D4-B06B-BA28D3195DAC}"/>
              </c:ext>
            </c:extLst>
          </c:dPt>
          <c:dPt>
            <c:idx val="5"/>
            <c:invertIfNegative val="1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B-B9D6-45D4-B06B-BA28D3195DAC}"/>
              </c:ext>
            </c:extLst>
          </c:dPt>
          <c:dPt>
            <c:idx val="6"/>
            <c:invertIfNegative val="1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D-B9D6-45D4-B06B-BA28D3195DAC}"/>
              </c:ext>
            </c:extLst>
          </c:dPt>
          <c:dPt>
            <c:idx val="7"/>
            <c:invertIfNegative val="1"/>
            <c:bubble3D val="0"/>
            <c:spPr>
              <a:solidFill>
                <a:srgbClr val="60A5FA"/>
              </a:solidFill>
            </c:spPr>
            <c:extLst>
              <c:ext xmlns:c16="http://schemas.microsoft.com/office/drawing/2014/chart" uri="{C3380CC4-5D6E-409C-BE32-E72D297353CC}">
                <c16:uniqueId val="{0000000F-B9D6-45D4-B06B-BA28D3195DAC}"/>
              </c:ext>
            </c:extLst>
          </c:dPt>
          <c:dPt>
            <c:idx val="8"/>
            <c:invertIfNegative val="1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11-B9D6-45D4-B06B-BA28D3195DAC}"/>
              </c:ext>
            </c:extLst>
          </c:dPt>
          <c:dPt>
            <c:idx val="9"/>
            <c:invertIfNegative val="1"/>
            <c:bubble3D val="0"/>
            <c:spPr>
              <a:solidFill>
                <a:srgbClr val="60A5FA"/>
              </a:solidFill>
            </c:spPr>
            <c:extLst>
              <c:ext xmlns:c16="http://schemas.microsoft.com/office/drawing/2014/chart" uri="{C3380CC4-5D6E-409C-BE32-E72D297353CC}">
                <c16:uniqueId val="{00000013-B9D6-45D4-B06B-BA28D3195DAC}"/>
              </c:ext>
            </c:extLst>
          </c:dPt>
          <c:dPt>
            <c:idx val="10"/>
            <c:invertIfNegative val="1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15-B9D6-45D4-B06B-BA28D3195DAC}"/>
              </c:ext>
            </c:extLst>
          </c:dPt>
          <c:dPt>
            <c:idx val="11"/>
            <c:invertIfNegative val="1"/>
            <c:bubble3D val="0"/>
            <c:spPr>
              <a:solidFill>
                <a:srgbClr val="60A5FA"/>
              </a:solidFill>
            </c:spPr>
            <c:extLst>
              <c:ext xmlns:c16="http://schemas.microsoft.com/office/drawing/2014/chart" uri="{C3380CC4-5D6E-409C-BE32-E72D297353CC}">
                <c16:uniqueId val="{00000017-B9D6-45D4-B06B-BA28D3195DAC}"/>
              </c:ext>
            </c:extLst>
          </c:dPt>
          <c:dPt>
            <c:idx val="12"/>
            <c:invertIfNegative val="1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19-B9D6-45D4-B06B-BA28D3195DAC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Baseline</c:v>
                </c:pt>
                <c:pt idx="1">
                  <c:v>CNN (scratch)</c:v>
                </c:pt>
                <c:pt idx="2">
                  <c:v>EfficientNetB0</c:v>
                </c:pt>
                <c:pt idx="3">
                  <c:v>RNN (plain)</c:v>
                </c:pt>
                <c:pt idx="4">
                  <c:v>MobileNetV2</c:v>
                </c:pt>
                <c:pt idx="5">
                  <c:v>MLP</c:v>
                </c:pt>
                <c:pt idx="6">
                  <c:v>Naive Bayes</c:v>
                </c:pt>
                <c:pt idx="7">
                  <c:v>Late Fusion</c:v>
                </c:pt>
                <c:pt idx="8">
                  <c:v>SVM</c:v>
                </c:pt>
                <c:pt idx="9">
                  <c:v>Weighted Fusion</c:v>
                </c:pt>
                <c:pt idx="10">
                  <c:v>Logistic Regression</c:v>
                </c:pt>
                <c:pt idx="11">
                  <c:v>Stacking</c:v>
                </c:pt>
                <c:pt idx="12">
                  <c:v>GloVe+LSTM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0.36299999999999999</c:v>
                </c:pt>
                <c:pt idx="1">
                  <c:v>0.36299999999999999</c:v>
                </c:pt>
                <c:pt idx="2">
                  <c:v>0.36899999999999999</c:v>
                </c:pt>
                <c:pt idx="3">
                  <c:v>0.38300000000000001</c:v>
                </c:pt>
                <c:pt idx="4">
                  <c:v>0.41899999999999998</c:v>
                </c:pt>
                <c:pt idx="5">
                  <c:v>0.66400000000000003</c:v>
                </c:pt>
                <c:pt idx="6">
                  <c:v>0.67200000000000004</c:v>
                </c:pt>
                <c:pt idx="7">
                  <c:v>0.67700000000000005</c:v>
                </c:pt>
                <c:pt idx="8">
                  <c:v>0.68200000000000005</c:v>
                </c:pt>
                <c:pt idx="9">
                  <c:v>0.69499999999999995</c:v>
                </c:pt>
                <c:pt idx="10">
                  <c:v>0.7</c:v>
                </c:pt>
                <c:pt idx="11">
                  <c:v>0.70699999999999996</c:v>
                </c:pt>
                <c:pt idx="12">
                  <c:v>0.73299999999999998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B9D6-45D4-B06B-BA28D3195DA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74151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5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74151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Best accuracy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1-47F1-4D0E-952E-D7BE516B6ABA}"/>
              </c:ext>
            </c:extLst>
          </c:dPt>
          <c:dPt>
            <c:idx val="1"/>
            <c:invertIfNegative val="1"/>
            <c:bubble3D val="0"/>
            <c:spPr>
              <a:solidFill>
                <a:srgbClr val="9CA3AF"/>
              </a:solidFill>
            </c:spPr>
            <c:extLst>
              <c:ext xmlns:c16="http://schemas.microsoft.com/office/drawing/2014/chart" uri="{C3380CC4-5D6E-409C-BE32-E72D297353CC}">
                <c16:uniqueId val="{00000003-47F1-4D0E-952E-D7BE516B6ABA}"/>
              </c:ext>
            </c:extLst>
          </c:dPt>
          <c:dPt>
            <c:idx val="2"/>
            <c:invertIfNegative val="1"/>
            <c:bubble3D val="0"/>
            <c:spPr>
              <a:solidFill>
                <a:srgbClr val="60A5FA"/>
              </a:solidFill>
            </c:spPr>
            <c:extLst>
              <c:ext xmlns:c16="http://schemas.microsoft.com/office/drawing/2014/chart" uri="{C3380CC4-5D6E-409C-BE32-E72D297353CC}">
                <c16:uniqueId val="{00000005-47F1-4D0E-952E-D7BE516B6ABA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Text</c:v>
                </c:pt>
                <c:pt idx="1">
                  <c:v>Image</c:v>
                </c:pt>
                <c:pt idx="2">
                  <c:v>Multimodal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0.73299999999999998</c:v>
                </c:pt>
                <c:pt idx="1">
                  <c:v>0.41899999999999998</c:v>
                </c:pt>
                <c:pt idx="2">
                  <c:v>0.70699999999999996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F1-4D0E-952E-D7BE516B6A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5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1F2937"/>
                </a:solidFill>
                <a:latin typeface="Calibri"/>
              </a:rPr>
              <a:t>Sentiment Analysis of Tweets:</a:t>
            </a:r>
          </a:p>
          <a:p>
            <a:pPr algn="ctr"/>
            <a:r>
              <a:rPr sz="4000" b="1" i="0">
                <a:solidFill>
                  <a:srgbClr val="2563EB"/>
                </a:solidFill>
                <a:latin typeface="Calibri"/>
              </a:rPr>
              <a:t>Text, Images, and Both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6B7280"/>
                </a:solidFill>
                <a:latin typeface="Calibri"/>
              </a:rPr>
              <a:t>Which representation of a tweet best predicts its sentiment?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32720" cy="14927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 dirty="0">
                <a:solidFill>
                  <a:srgbClr val="1F2937"/>
                </a:solidFill>
                <a:latin typeface="Calibri"/>
              </a:rPr>
              <a:t>Jonah Rosenberg</a:t>
            </a:r>
          </a:p>
          <a:p>
            <a:pPr algn="ctr">
              <a:spcAft>
                <a:spcPts val="600"/>
              </a:spcAft>
            </a:pPr>
            <a:r>
              <a:rPr sz="1800" b="0" i="0" dirty="0">
                <a:solidFill>
                  <a:srgbClr val="374151"/>
                </a:solidFill>
                <a:latin typeface="Calibri"/>
              </a:rPr>
              <a:t>STAT 362, Spring 2026</a:t>
            </a:r>
          </a:p>
          <a:p>
            <a:pPr algn="ctr">
              <a:spcAft>
                <a:spcPts val="600"/>
              </a:spcAft>
            </a:pPr>
            <a:r>
              <a:rPr lang="en-US" sz="1800" b="0" i="0" dirty="0">
                <a:solidFill>
                  <a:srgbClr val="374151"/>
                </a:solidFill>
                <a:latin typeface="Calibri"/>
              </a:rPr>
              <a:t>Professor</a:t>
            </a:r>
            <a:r>
              <a:rPr lang="en-US" sz="18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lang="en-US" sz="1800" b="0" i="0" dirty="0">
                <a:solidFill>
                  <a:srgbClr val="374151"/>
                </a:solidFill>
                <a:latin typeface="Calibri"/>
              </a:rPr>
              <a:t>Emre Besler</a:t>
            </a:r>
            <a:endParaRPr sz="1800" b="0" i="0" dirty="0">
              <a:solidFill>
                <a:srgbClr val="374151"/>
              </a:solidFill>
              <a:latin typeface="Calibri"/>
            </a:endParaRPr>
          </a:p>
          <a:p>
            <a:pPr algn="ctr">
              <a:spcAft>
                <a:spcPts val="600"/>
              </a:spcAft>
            </a:pPr>
            <a:r>
              <a:rPr sz="1800" b="0" i="0" dirty="0">
                <a:solidFill>
                  <a:srgbClr val="374151"/>
                </a:solidFill>
                <a:latin typeface="Calibri"/>
              </a:rPr>
              <a:t>github.com/</a:t>
            </a:r>
            <a:r>
              <a:rPr sz="1800" b="0" i="0" dirty="0" err="1">
                <a:solidFill>
                  <a:srgbClr val="374151"/>
                </a:solidFill>
                <a:latin typeface="Calibri"/>
              </a:rPr>
              <a:t>jonahrosenberg</a:t>
            </a:r>
            <a:r>
              <a:rPr sz="1800" b="0" i="0" dirty="0">
                <a:solidFill>
                  <a:srgbClr val="374151"/>
                </a:solidFill>
                <a:latin typeface="Calibri"/>
              </a:rPr>
              <a:t>/stat-362-final-project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Introduction</a:t>
            </a:r>
          </a:p>
          <a:p>
            <a:r>
              <a:rPr sz="1500" b="0" i="0">
                <a:solidFill>
                  <a:srgbClr val="6B7280"/>
                </a:solidFill>
                <a:latin typeface="Calibri"/>
              </a:rPr>
              <a:t>When is more data actually more information?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3441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 dirty="0">
                <a:solidFill>
                  <a:srgbClr val="374151"/>
                </a:solidFill>
                <a:latin typeface="Calibri"/>
              </a:rPr>
              <a:t>A tweet often carries meaning through both a caption and an image, and the two together set a mood neither fully captures alone.</a:t>
            </a:r>
          </a:p>
          <a:p>
            <a:pPr>
              <a:spcAft>
                <a:spcPts val="1400"/>
              </a:spcAft>
            </a:pPr>
            <a:r>
              <a:rPr sz="1900" b="1" i="0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1" i="0" dirty="0">
                <a:solidFill>
                  <a:srgbClr val="1F2937"/>
                </a:solidFill>
                <a:latin typeface="Calibri"/>
              </a:rPr>
              <a:t>Central question: </a:t>
            </a:r>
            <a:r>
              <a:rPr sz="1900" b="0" i="0" dirty="0">
                <a:solidFill>
                  <a:srgbClr val="374151"/>
                </a:solidFill>
                <a:latin typeface="Calibri"/>
              </a:rPr>
              <a:t>for a paired tweet, which representation carries the most predictable sentiment, the text, the image, or both combined?</a:t>
            </a:r>
          </a:p>
          <a:p>
            <a:pPr>
              <a:spcAft>
                <a:spcPts val="1400"/>
              </a:spcAft>
            </a:pPr>
            <a:r>
              <a:rPr sz="1900" b="1" i="0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 dirty="0">
                <a:solidFill>
                  <a:srgbClr val="374151"/>
                </a:solidFill>
                <a:latin typeface="Calibri"/>
              </a:rPr>
              <a:t>Three parallel pipelines are built on the same tweets and compared on identical terms: text-only, image-only, and a multimodal fusion of the two.</a:t>
            </a:r>
          </a:p>
          <a:p>
            <a:pPr>
              <a:spcAft>
                <a:spcPts val="1400"/>
              </a:spcAft>
            </a:pPr>
            <a:r>
              <a:rPr sz="1900" b="1" i="0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 dirty="0">
                <a:solidFill>
                  <a:srgbClr val="374151"/>
                </a:solidFill>
                <a:latin typeface="Calibri"/>
              </a:rPr>
              <a:t>Each predicts one of three sentiment classes: negative, neutral, or positive.</a:t>
            </a:r>
          </a:p>
          <a:p>
            <a:pPr>
              <a:spcAft>
                <a:spcPts val="1400"/>
              </a:spcAft>
            </a:pPr>
            <a:r>
              <a:rPr sz="1900" b="1" i="0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 i="0" dirty="0">
                <a:solidFill>
                  <a:srgbClr val="374151"/>
                </a:solidFill>
                <a:latin typeface="Calibri"/>
              </a:rPr>
              <a:t>The project spans the full toolkit: classical models, recurrent networks, transfer learning, and ensemble fusion.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Data</a:t>
            </a:r>
          </a:p>
          <a:p>
            <a:r>
              <a:rPr sz="1500" b="0" i="0">
                <a:solidFill>
                  <a:srgbClr val="6B7280"/>
                </a:solidFill>
                <a:latin typeface="Calibri"/>
              </a:rPr>
              <a:t>Twitter Dataset for Sentiment Analysis (Kaggle) — 4,869 paired tweets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6492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6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50" b="1" i="0">
                <a:solidFill>
                  <a:srgbClr val="1F2937"/>
                </a:solidFill>
                <a:latin typeface="Calibri"/>
              </a:rPr>
              <a:t>Paired:  </a:t>
            </a:r>
            <a:r>
              <a:rPr sz="1650" b="0" i="0">
                <a:solidFill>
                  <a:srgbClr val="374151"/>
                </a:solidFill>
                <a:latin typeface="Calibri"/>
              </a:rPr>
              <a:t>every tweet has both a caption and an image, linked by a numeric ID and sharing one label.</a:t>
            </a:r>
          </a:p>
          <a:p>
            <a:pPr>
              <a:spcAft>
                <a:spcPts val="1400"/>
              </a:spcAft>
            </a:pPr>
            <a:r>
              <a:rPr sz="16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50" b="1" i="0">
                <a:solidFill>
                  <a:srgbClr val="1F2937"/>
                </a:solidFill>
                <a:latin typeface="Calibri"/>
              </a:rPr>
              <a:t>Text:  </a:t>
            </a:r>
            <a:r>
              <a:rPr sz="1650" b="0" i="0">
                <a:solidFill>
                  <a:srgbClr val="374151"/>
                </a:solidFill>
                <a:latin typeface="Calibri"/>
              </a:rPr>
              <a:t>short, informal captions (~13 words) with URLs, hashtags, and noise.</a:t>
            </a:r>
          </a:p>
          <a:p>
            <a:pPr>
              <a:spcAft>
                <a:spcPts val="1400"/>
              </a:spcAft>
            </a:pPr>
            <a:r>
              <a:rPr sz="16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50" b="1" i="0">
                <a:solidFill>
                  <a:srgbClr val="1F2937"/>
                </a:solidFill>
                <a:latin typeface="Calibri"/>
              </a:rPr>
              <a:t>Image:  </a:t>
            </a:r>
            <a:r>
              <a:rPr sz="1650" b="0" i="0">
                <a:solidFill>
                  <a:srgbClr val="374151"/>
                </a:solidFill>
                <a:latin typeface="Calibri"/>
              </a:rPr>
              <a:t>a mix of photos, memes, and screenshots; sentiment often lives in overlaid text.</a:t>
            </a:r>
          </a:p>
          <a:p>
            <a:pPr>
              <a:spcAft>
                <a:spcPts val="1400"/>
              </a:spcAft>
            </a:pPr>
            <a:r>
              <a:rPr sz="16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50" b="1" i="0">
                <a:solidFill>
                  <a:srgbClr val="1F2937"/>
                </a:solidFill>
                <a:latin typeface="Calibri"/>
              </a:rPr>
              <a:t>Preprocessing:  </a:t>
            </a:r>
            <a:r>
              <a:rPr sz="1650" b="0" i="0">
                <a:solidFill>
                  <a:srgbClr val="374151"/>
                </a:solidFill>
                <a:latin typeface="Calibri"/>
              </a:rPr>
              <a:t>rule-based text cleaning, images resized to 128×128, stratified 80/20 split with a fixed seed.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0" y="2103120"/>
          <a:ext cx="36576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74151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74151"/>
                          </a:solidFill>
                          <a:latin typeface="Calibri"/>
                        </a:rPr>
                        <a:t>1,771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74151"/>
                          </a:solidFill>
                          <a:latin typeface="Calibri"/>
                        </a:rPr>
                        <a:t>36.4%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74151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74151"/>
                          </a:solidFill>
                          <a:latin typeface="Calibri"/>
                        </a:rPr>
                        <a:t>1,646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74151"/>
                          </a:solidFill>
                          <a:latin typeface="Calibri"/>
                        </a:rPr>
                        <a:t>33.8%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74151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74151"/>
                          </a:solidFill>
                          <a:latin typeface="Calibri"/>
                        </a:rPr>
                        <a:t>1,452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74151"/>
                          </a:solidFill>
                          <a:latin typeface="Calibri"/>
                        </a:rPr>
                        <a:t>29.8%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74151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74151"/>
                          </a:solidFill>
                          <a:latin typeface="Calibri"/>
                        </a:rPr>
                        <a:t>4,869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7415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828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Calibri"/>
              </a:rPr>
              <a:t>Table 1 — Class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Methods — Models</a:t>
            </a:r>
          </a:p>
          <a:p>
            <a:r>
              <a:rPr sz="1500" b="0" i="0">
                <a:solidFill>
                  <a:srgbClr val="6B7280"/>
                </a:solidFill>
                <a:latin typeface="Calibri"/>
              </a:rPr>
              <a:t>Supervised three-class classification; the same tweets feed every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2563EB"/>
                </a:solidFill>
                <a:latin typeface="Calibri"/>
              </a:rPr>
              <a:t>Text pipeline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65960"/>
          <a:ext cx="5120640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Naive Bayes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TF-IDF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Logistic Reg.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TF-IDF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Classical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TF-IDF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Neural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TF-IDF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RNN (plain)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Neural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learned emb.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GloVe+LSTM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Neural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GloVe emb.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55080" y="16002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2563EB"/>
                </a:solidFill>
                <a:latin typeface="Calibri"/>
              </a:rPr>
              <a:t>Image pipeline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55080" y="1965960"/>
          <a:ext cx="502920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CNN (scratch)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From scratch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pixels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MobileNetV2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Transfer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ImageNet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EfficientNetB0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Transfer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ImageNet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55080" y="3977639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374151"/>
                </a:solidFill>
                <a:latin typeface="Calibri"/>
              </a:rPr>
              <a:t>Classical TF-IDF models vs. neural sequence models on text.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374151"/>
                </a:solidFill>
                <a:latin typeface="Calibri"/>
              </a:rPr>
              <a:t>A from-scratch CNN vs. frozen ImageNet backbones on images.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374151"/>
                </a:solidFill>
                <a:latin typeface="Calibri"/>
              </a:rPr>
              <a:t>Tuned on a held-out validation set; scored by accuracy and macro F1.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Methods — Fusion &amp; Evaluation</a:t>
            </a:r>
          </a:p>
          <a:p>
            <a:r>
              <a:rPr sz="1500" b="0" i="0">
                <a:solidFill>
                  <a:srgbClr val="6B7280"/>
                </a:solidFill>
                <a:latin typeface="Calibri"/>
              </a:rPr>
              <a:t>Late fusion combines the two models’ class probabilities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603504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probabilities are combined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74151"/>
                          </a:solidFill>
                          <a:latin typeface="Calibri"/>
                        </a:rPr>
                        <a:t>Equal average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  <a:latin typeface="Calibri"/>
                        </a:rPr>
                        <a:t>mean of text and image probabilities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74151"/>
                          </a:solidFill>
                          <a:latin typeface="Calibri"/>
                        </a:rPr>
                        <a:t>Weighted average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  <a:latin typeface="Calibri"/>
                        </a:rPr>
                        <a:t>weight on text, remainder on image (tuned)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74151"/>
                          </a:solidFill>
                          <a:latin typeface="Calibri"/>
                        </a:rPr>
                        <a:t>Stacking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74151"/>
                          </a:solidFill>
                          <a:latin typeface="Calibri"/>
                        </a:rPr>
                        <a:t>logistic regression on concatenated probabilities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3703320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Calibri"/>
              </a:rPr>
              <a:t>Table 4 — Fusion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6035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One joint train/test split so both base models see the same tweets.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Fusion weights tuned on a held-out validation set, never on test.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Compared against a majority-class baseline (always predicts neutral).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74519"/>
            <a:ext cx="219456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Text model
P(neg, neu, pos)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880360"/>
            <a:ext cx="2194560" cy="731520"/>
          </a:xfrm>
          <a:prstGeom prst="roundRect">
            <a:avLst/>
          </a:prstGeom>
          <a:solidFill>
            <a:srgbClr val="9CA3AF"/>
          </a:solidFill>
          <a:ln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Image model
P(neg, neu, pos)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2377440"/>
            <a:ext cx="1737360" cy="731520"/>
          </a:xfrm>
          <a:prstGeom prst="roundRect">
            <a:avLst/>
          </a:prstGeom>
          <a:solidFill>
            <a:srgbClr val="93B4F5"/>
          </a:solidFill>
          <a:ln>
            <a:solidFill>
              <a:srgbClr val="93B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Combine
(avg / weighted / stacking)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528048" y="2697480"/>
            <a:ext cx="292608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784080" y="3794760"/>
            <a:ext cx="1737360" cy="64008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Prediction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0561320" y="3154680"/>
            <a:ext cx="274320" cy="45720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46177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Calibri"/>
              </a:rPr>
              <a:t>Late-fusion schematic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Results — All Models</a:t>
            </a:r>
          </a:p>
          <a:p>
            <a:r>
              <a:rPr sz="1500" b="0" i="0">
                <a:solidFill>
                  <a:srgbClr val="6B7280"/>
                </a:solidFill>
                <a:latin typeface="Calibri"/>
              </a:rPr>
              <a:t>Text leads, image sits near the baseline, multimodal matches text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554480"/>
          <a:ext cx="73152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0" y="1737360"/>
            <a:ext cx="201168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1682495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374151"/>
                </a:solidFill>
                <a:latin typeface="Calibri"/>
              </a:rPr>
              <a:t>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057400"/>
            <a:ext cx="201168" cy="201168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200253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374151"/>
                </a:solidFill>
                <a:latin typeface="Calibri"/>
              </a:rPr>
              <a:t>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377440"/>
            <a:ext cx="201168" cy="20116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0" y="232257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374151"/>
                </a:solidFill>
                <a:latin typeface="Calibri"/>
              </a:rPr>
              <a:t>Multimodal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697480"/>
            <a:ext cx="201168" cy="20116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264261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374151"/>
                </a:solidFill>
                <a:latin typeface="Calibri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91840"/>
            <a:ext cx="34747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F2937"/>
                </a:solidFill>
                <a:latin typeface="Calibri"/>
              </a:rPr>
              <a:t>GloVe+LSTM: 73.3%</a:t>
            </a:r>
            <a:r>
              <a:rPr sz="1350" b="0" i="0">
                <a:solidFill>
                  <a:srgbClr val="374151"/>
                </a:solidFill>
                <a:latin typeface="Calibri"/>
              </a:rPr>
              <a:t>  — best overall, ~2× baseline.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F2937"/>
                </a:solidFill>
                <a:latin typeface="Calibri"/>
              </a:rPr>
              <a:t>Image models: 36–42%</a:t>
            </a:r>
            <a:r>
              <a:rPr sz="1350" b="0" i="0">
                <a:solidFill>
                  <a:srgbClr val="374151"/>
                </a:solidFill>
                <a:latin typeface="Calibri"/>
              </a:rPr>
              <a:t>  — barely above the 36.3% baseline.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F2937"/>
                </a:solidFill>
                <a:latin typeface="Calibri"/>
              </a:rPr>
              <a:t>Multimodal: ~71%</a:t>
            </a:r>
            <a:r>
              <a:rPr sz="1350" b="0" i="0">
                <a:solidFill>
                  <a:srgbClr val="374151"/>
                </a:solidFill>
                <a:latin typeface="Calibri"/>
              </a:rPr>
              <a:t>  — lands at the text level, not above.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Results — Modality Head-to-Head</a:t>
            </a:r>
          </a:p>
          <a:p>
            <a:r>
              <a:rPr sz="1500" b="0" i="0">
                <a:solidFill>
                  <a:srgbClr val="6B7280"/>
                </a:solidFill>
                <a:latin typeface="Calibri"/>
              </a:rPr>
              <a:t>Fusion inherits the stronger modality; it never beats text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9164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Calibri"/>
              </a:rPr>
              <a:t>Best model per pipeline (baseline = 0.363)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783080"/>
          <a:ext cx="502920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Fusion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Equal average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67.7%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67.8%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38.9%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Weighted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69.5%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70.5%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37.4%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Stacking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70.7%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70.7%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74151"/>
                          </a:solidFill>
                          <a:latin typeface="Calibri"/>
                        </a:rPr>
                        <a:t>37.0%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36118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Calibri"/>
              </a:rPr>
              <a:t>On one joint split (same tweets for every model)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023360"/>
            <a:ext cx="5029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Stacking equals text exactly: both 689 / 974 correct.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No fusion scheme beats text; the weighted average dips below it.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The image model is near-noise, so it cannot help at any weight.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Image ceiling is principled: a CNN cannot read overlaid caption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Conclusion</a:t>
            </a:r>
          </a:p>
          <a:p>
            <a:r>
              <a:rPr sz="1500" b="0" i="0">
                <a:solidFill>
                  <a:srgbClr val="6B7280"/>
                </a:solidFill>
                <a:latin typeface="Calibri"/>
              </a:rPr>
              <a:t>More data is only more information when it carries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7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50" b="1" i="0">
                <a:solidFill>
                  <a:srgbClr val="1F2937"/>
                </a:solidFill>
                <a:latin typeface="Calibri"/>
              </a:rPr>
              <a:t>Text is the decisive modality.  </a:t>
            </a:r>
            <a:r>
              <a:rPr sz="1750" b="0" i="0">
                <a:solidFill>
                  <a:srgbClr val="374151"/>
                </a:solidFill>
                <a:latin typeface="Calibri"/>
              </a:rPr>
              <a:t>The GloVe+LSTM reaches 73.3%, roughly double the baseline.</a:t>
            </a:r>
          </a:p>
          <a:p>
            <a:pPr>
              <a:spcAft>
                <a:spcPts val="1400"/>
              </a:spcAft>
            </a:pPr>
            <a:r>
              <a:rPr sz="17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50" b="1" i="0">
                <a:solidFill>
                  <a:srgbClr val="1F2937"/>
                </a:solidFill>
                <a:latin typeface="Calibri"/>
              </a:rPr>
              <a:t>The image ceiling is principled.  </a:t>
            </a:r>
            <a:r>
              <a:rPr sz="1750" b="0" i="0">
                <a:solidFill>
                  <a:srgbClr val="374151"/>
                </a:solidFill>
                <a:latin typeface="Calibri"/>
              </a:rPr>
              <a:t>Sentiment lives in overlaid caption text a CNN cannot read, so image models plateau near the baseline.</a:t>
            </a:r>
          </a:p>
          <a:p>
            <a:pPr>
              <a:spcAft>
                <a:spcPts val="1400"/>
              </a:spcAft>
            </a:pPr>
            <a:r>
              <a:rPr sz="17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50" b="1" i="0">
                <a:solidFill>
                  <a:srgbClr val="1F2937"/>
                </a:solidFill>
                <a:latin typeface="Calibri"/>
              </a:rPr>
              <a:t>Fusion matches but never exceeds text.  </a:t>
            </a:r>
            <a:r>
              <a:rPr sz="1750" b="0" i="0">
                <a:solidFill>
                  <a:srgbClr val="374151"/>
                </a:solidFill>
                <a:latin typeface="Calibri"/>
              </a:rPr>
              <a:t>Combining a strong modality with a near-noise one yields no gain at any weighting.</a:t>
            </a:r>
          </a:p>
          <a:p>
            <a:pPr>
              <a:spcAft>
                <a:spcPts val="1400"/>
              </a:spcAft>
            </a:pPr>
            <a:r>
              <a:rPr sz="17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50" b="1" i="0">
                <a:solidFill>
                  <a:srgbClr val="1F2937"/>
                </a:solidFill>
                <a:latin typeface="Calibri"/>
              </a:rPr>
              <a:t>Methods lessons.  </a:t>
            </a:r>
            <a:r>
              <a:rPr sz="1750" b="0" i="0">
                <a:solidFill>
                  <a:srgbClr val="374151"/>
                </a:solidFill>
                <a:latin typeface="Calibri"/>
              </a:rPr>
              <a:t>Engineered features beat a from-scratch RNN on small data, and pretrained GloVe embeddings rescued the LSTM, a direct win for transfer learning.</a:t>
            </a:r>
          </a:p>
          <a:p>
            <a:pPr>
              <a:spcAft>
                <a:spcPts val="1400"/>
              </a:spcAft>
            </a:pPr>
            <a:r>
              <a:rPr sz="17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750" b="1" i="0">
                <a:solidFill>
                  <a:srgbClr val="1F2937"/>
                </a:solidFill>
                <a:latin typeface="Calibri"/>
              </a:rPr>
              <a:t>Next step.  </a:t>
            </a:r>
            <a:r>
              <a:rPr sz="1750" b="0" i="0">
                <a:solidFill>
                  <a:srgbClr val="374151"/>
                </a:solidFill>
                <a:latin typeface="Calibri"/>
              </a:rPr>
              <a:t>Read the overlaid text with OCR, or use a vision-language model such as CLIP, to recover image signal.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828</Words>
  <Application>Microsoft Office PowerPoint</Application>
  <PresentationFormat>Widescreen</PresentationFormat>
  <Paragraphs>135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Jonah Rosenberg</cp:lastModifiedBy>
  <cp:revision>2</cp:revision>
  <dcterms:created xsi:type="dcterms:W3CDTF">2013-01-27T09:14:16Z</dcterms:created>
  <dcterms:modified xsi:type="dcterms:W3CDTF">2026-06-05T18:35:20Z</dcterms:modified>
  <cp:category/>
</cp:coreProperties>
</file>