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dPt>
            <c:idx val="0"/>
            <c:spPr>
              <a:solidFill>
                <a:srgbClr val="D1D5DB"/>
              </a:solidFill>
            </c:spPr>
          </c:dPt>
          <c:dPt>
            <c:idx val="1"/>
            <c:spPr>
              <a:solidFill>
                <a:srgbClr val="9CA3AF"/>
              </a:solidFill>
            </c:spPr>
          </c:dPt>
          <c:dPt>
            <c:idx val="2"/>
            <c:spPr>
              <a:solidFill>
                <a:srgbClr val="9CA3AF"/>
              </a:solidFill>
            </c:spPr>
          </c:dPt>
          <c:dPt>
            <c:idx val="3"/>
            <c:spPr>
              <a:solidFill>
                <a:srgbClr val="2563EB"/>
              </a:solidFill>
            </c:spPr>
          </c:dPt>
          <c:dPt>
            <c:idx val="4"/>
            <c:spPr>
              <a:solidFill>
                <a:srgbClr val="9CA3AF"/>
              </a:solidFill>
            </c:spPr>
          </c:dPt>
          <c:dPt>
            <c:idx val="5"/>
            <c:spPr>
              <a:solidFill>
                <a:srgbClr val="2563EB"/>
              </a:solidFill>
            </c:spPr>
          </c:dPt>
          <c:dPt>
            <c:idx val="6"/>
            <c:spPr>
              <a:solidFill>
                <a:srgbClr val="2563EB"/>
              </a:solidFill>
            </c:spPr>
          </c:dPt>
          <c:dPt>
            <c:idx val="7"/>
            <c:spPr>
              <a:solidFill>
                <a:srgbClr val="60A5FA"/>
              </a:solidFill>
            </c:spPr>
          </c:dPt>
          <c:dPt>
            <c:idx val="8"/>
            <c:spPr>
              <a:solidFill>
                <a:srgbClr val="2563EB"/>
              </a:solidFill>
            </c:spPr>
          </c:dPt>
          <c:dPt>
            <c:idx val="9"/>
            <c:spPr>
              <a:solidFill>
                <a:srgbClr val="60A5FA"/>
              </a:solidFill>
            </c:spPr>
          </c:dPt>
          <c:dPt>
            <c:idx val="10"/>
            <c:spPr>
              <a:solidFill>
                <a:srgbClr val="2563EB"/>
              </a:solidFill>
            </c:spPr>
          </c:dPt>
          <c:dPt>
            <c:idx val="11"/>
            <c:spPr>
              <a:solidFill>
                <a:srgbClr val="60A5FA"/>
              </a:solidFill>
            </c:spPr>
          </c:dPt>
          <c:dPt>
            <c:idx val="12"/>
            <c:spPr>
              <a:solidFill>
                <a:srgbClr val="2563EB"/>
              </a:solidFill>
            </c:spPr>
          </c:dPt>
          <c:cat>
            <c:strRef>
              <c:f>Sheet1!$A$2:$A$14</c:f>
              <c:strCache>
                <c:ptCount val="13"/>
                <c:pt idx="0">
                  <c:v>Baseline</c:v>
                </c:pt>
                <c:pt idx="1">
                  <c:v>CNN (scratch)</c:v>
                </c:pt>
                <c:pt idx="2">
                  <c:v>EfficientNetB0</c:v>
                </c:pt>
                <c:pt idx="3">
                  <c:v>RNN (plain)</c:v>
                </c:pt>
                <c:pt idx="4">
                  <c:v>MobileNetV2</c:v>
                </c:pt>
                <c:pt idx="5">
                  <c:v>MLP</c:v>
                </c:pt>
                <c:pt idx="6">
                  <c:v>Naive Bayes</c:v>
                </c:pt>
                <c:pt idx="7">
                  <c:v>Late Fusion</c:v>
                </c:pt>
                <c:pt idx="8">
                  <c:v>SVM</c:v>
                </c:pt>
                <c:pt idx="9">
                  <c:v>Weighted Fusion</c:v>
                </c:pt>
                <c:pt idx="10">
                  <c:v>Logistic Regression</c:v>
                </c:pt>
                <c:pt idx="11">
                  <c:v>Stacking</c:v>
                </c:pt>
                <c:pt idx="12">
                  <c:v>GloVe+LSTM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0.363</c:v>
                </c:pt>
                <c:pt idx="1">
                  <c:v>0.363</c:v>
                </c:pt>
                <c:pt idx="2">
                  <c:v>0.369</c:v>
                </c:pt>
                <c:pt idx="3">
                  <c:v>0.383</c:v>
                </c:pt>
                <c:pt idx="4">
                  <c:v>0.419</c:v>
                </c:pt>
                <c:pt idx="5">
                  <c:v>0.664</c:v>
                </c:pt>
                <c:pt idx="6">
                  <c:v>0.672</c:v>
                </c:pt>
                <c:pt idx="7">
                  <c:v>0.677</c:v>
                </c:pt>
                <c:pt idx="8">
                  <c:v>0.682</c:v>
                </c:pt>
                <c:pt idx="9">
                  <c:v>0.695</c:v>
                </c:pt>
                <c:pt idx="10">
                  <c:v>0.7</c:v>
                </c:pt>
                <c:pt idx="11">
                  <c:v>0.707</c:v>
                </c:pt>
                <c:pt idx="12">
                  <c:v>0.733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>
                  <a:solidFill>
                    <a:srgbClr val="1F293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37415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5"/>
          <c:min val="0.0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374151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Best accuracy</c:v>
                </c:pt>
              </c:strCache>
            </c:strRef>
          </c:tx>
          <c:dPt>
            <c:idx val="0"/>
            <c:spPr>
              <a:solidFill>
                <a:srgbClr val="2563EB"/>
              </a:solidFill>
            </c:spPr>
          </c:dPt>
          <c:dPt>
            <c:idx val="1"/>
            <c:spPr>
              <a:solidFill>
                <a:srgbClr val="9CA3AF"/>
              </a:solidFill>
            </c:spPr>
          </c:dPt>
          <c:dPt>
            <c:idx val="2"/>
            <c:spPr>
              <a:solidFill>
                <a:srgbClr val="60A5FA"/>
              </a:solidFill>
            </c:spPr>
          </c:dPt>
          <c:cat>
            <c:strRef>
              <c:f>Sheet1!$A$2:$A$4</c:f>
              <c:strCache>
                <c:ptCount val="3"/>
                <c:pt idx="0">
                  <c:v>Text</c:v>
                </c:pt>
                <c:pt idx="1">
                  <c:v>Image</c:v>
                </c:pt>
                <c:pt idx="2">
                  <c:v>Multimodal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0.733</c:v>
                </c:pt>
                <c:pt idx="1">
                  <c:v>0.419</c:v>
                </c:pt>
                <c:pt idx="2">
                  <c:v>0.707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>
                  <a:solidFill>
                    <a:srgbClr val="1F293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37415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5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374151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14300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1F2937"/>
                </a:solidFill>
                <a:latin typeface="Calibri"/>
              </a:rPr>
              <a:t>Sentiment Analysis of Tweets:</a:t>
            </a:r>
          </a:p>
          <a:p>
            <a:pPr algn="ctr"/>
            <a:r>
              <a:rPr sz="4000" b="1" i="0">
                <a:solidFill>
                  <a:srgbClr val="2563EB"/>
                </a:solidFill>
                <a:latin typeface="Calibri"/>
              </a:rPr>
              <a:t>Text, Images, and Both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146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6B7280"/>
                </a:solidFill>
                <a:latin typeface="Calibri"/>
              </a:rPr>
              <a:t>Which representation of a tweet best predicts its sentiment?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0332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1F2937"/>
                </a:solidFill>
                <a:latin typeface="Calibri"/>
              </a:rPr>
              <a:t>Jonah Rosenberg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374151"/>
                </a:solidFill>
                <a:latin typeface="Calibri"/>
              </a:rPr>
              <a:t>STAT 362, Spring 2026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Professor: </a:t>
            </a:r>
            <a:r>
              <a:rPr sz="1800" b="0" i="0">
                <a:solidFill>
                  <a:srgbClr val="374151"/>
                </a:solidFill>
                <a:latin typeface="Calibri"/>
              </a:rPr>
              <a:t>[Professor Name]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374151"/>
                </a:solidFill>
                <a:latin typeface="Calibri"/>
              </a:rPr>
              <a:t>github.com/jonahrosenberg/stat-362-final-project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Introduction</a:t>
            </a:r>
          </a:p>
          <a:p>
            <a:r>
              <a:rPr sz="1500" b="0" i="0">
                <a:solidFill>
                  <a:srgbClr val="6B7280"/>
                </a:solidFill>
                <a:latin typeface="Calibri"/>
              </a:rPr>
              <a:t>When is more data actually more information?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9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374151"/>
                </a:solidFill>
                <a:latin typeface="Calibri"/>
              </a:rPr>
              <a:t>A tweet often carries meaning through both a caption and an image, and the two together set a mood neither fully captures alone.</a:t>
            </a:r>
          </a:p>
          <a:p>
            <a:pPr>
              <a:spcAft>
                <a:spcPts val="1400"/>
              </a:spcAft>
            </a:pPr>
            <a:r>
              <a:rPr sz="19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F2937"/>
                </a:solidFill>
                <a:latin typeface="Calibri"/>
              </a:rPr>
              <a:t>Central question:  </a:t>
            </a:r>
            <a:r>
              <a:rPr sz="1900" b="0" i="0">
                <a:solidFill>
                  <a:srgbClr val="374151"/>
                </a:solidFill>
                <a:latin typeface="Calibri"/>
              </a:rPr>
              <a:t>for a paired tweet, which representation carries the most predictable sentiment, the text, the image, or both combined?</a:t>
            </a:r>
          </a:p>
          <a:p>
            <a:pPr>
              <a:spcAft>
                <a:spcPts val="1400"/>
              </a:spcAft>
            </a:pPr>
            <a:r>
              <a:rPr sz="19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374151"/>
                </a:solidFill>
                <a:latin typeface="Calibri"/>
              </a:rPr>
              <a:t>Three parallel pipelines are built on the same tweets and compared on identical terms: text-only, image-only, and a multimodal fusion of the two.</a:t>
            </a:r>
          </a:p>
          <a:p>
            <a:pPr>
              <a:spcAft>
                <a:spcPts val="1400"/>
              </a:spcAft>
            </a:pPr>
            <a:r>
              <a:rPr sz="19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374151"/>
                </a:solidFill>
                <a:latin typeface="Calibri"/>
              </a:rPr>
              <a:t>Each predicts one of three sentiment classes: negative, neutral, or positive.</a:t>
            </a:r>
          </a:p>
          <a:p>
            <a:pPr>
              <a:spcAft>
                <a:spcPts val="1400"/>
              </a:spcAft>
            </a:pPr>
            <a:r>
              <a:rPr sz="19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374151"/>
                </a:solidFill>
                <a:latin typeface="Calibri"/>
              </a:rPr>
              <a:t>The project spans the full toolkit: classical models, recurrent networks, transfer learning, and ensemble fusion.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Data</a:t>
            </a:r>
          </a:p>
          <a:p>
            <a:r>
              <a:rPr sz="1500" b="0" i="0">
                <a:solidFill>
                  <a:srgbClr val="6B7280"/>
                </a:solidFill>
                <a:latin typeface="Calibri"/>
              </a:rPr>
              <a:t>Twitter Dataset for Sentiment Analysis (Kaggle) — 4,869 paired tweets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649224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65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650" b="1" i="0">
                <a:solidFill>
                  <a:srgbClr val="1F2937"/>
                </a:solidFill>
                <a:latin typeface="Calibri"/>
              </a:rPr>
              <a:t>Paired:  </a:t>
            </a:r>
            <a:r>
              <a:rPr sz="1650" b="0" i="0">
                <a:solidFill>
                  <a:srgbClr val="374151"/>
                </a:solidFill>
                <a:latin typeface="Calibri"/>
              </a:rPr>
              <a:t>every tweet has both a caption and an image, linked by a numeric ID and sharing one label.</a:t>
            </a:r>
          </a:p>
          <a:p>
            <a:pPr>
              <a:spcAft>
                <a:spcPts val="1400"/>
              </a:spcAft>
            </a:pPr>
            <a:r>
              <a:rPr sz="165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650" b="1" i="0">
                <a:solidFill>
                  <a:srgbClr val="1F2937"/>
                </a:solidFill>
                <a:latin typeface="Calibri"/>
              </a:rPr>
              <a:t>Text:  </a:t>
            </a:r>
            <a:r>
              <a:rPr sz="1650" b="0" i="0">
                <a:solidFill>
                  <a:srgbClr val="374151"/>
                </a:solidFill>
                <a:latin typeface="Calibri"/>
              </a:rPr>
              <a:t>short, informal captions (~13 words) with URLs, hashtags, and noise.</a:t>
            </a:r>
          </a:p>
          <a:p>
            <a:pPr>
              <a:spcAft>
                <a:spcPts val="1400"/>
              </a:spcAft>
            </a:pPr>
            <a:r>
              <a:rPr sz="165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650" b="1" i="0">
                <a:solidFill>
                  <a:srgbClr val="1F2937"/>
                </a:solidFill>
                <a:latin typeface="Calibri"/>
              </a:rPr>
              <a:t>Image:  </a:t>
            </a:r>
            <a:r>
              <a:rPr sz="1650" b="0" i="0">
                <a:solidFill>
                  <a:srgbClr val="374151"/>
                </a:solidFill>
                <a:latin typeface="Calibri"/>
              </a:rPr>
              <a:t>a mix of photos, memes, and screenshots; sentiment often lives in overlaid text.</a:t>
            </a:r>
          </a:p>
          <a:p>
            <a:pPr>
              <a:spcAft>
                <a:spcPts val="1400"/>
              </a:spcAft>
            </a:pPr>
            <a:r>
              <a:rPr sz="165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650" b="1" i="0">
                <a:solidFill>
                  <a:srgbClr val="1F2937"/>
                </a:solidFill>
                <a:latin typeface="Calibri"/>
              </a:rPr>
              <a:t>Preprocessing:  </a:t>
            </a:r>
            <a:r>
              <a:rPr sz="1650" b="0" i="0">
                <a:solidFill>
                  <a:srgbClr val="374151"/>
                </a:solidFill>
                <a:latin typeface="Calibri"/>
              </a:rPr>
              <a:t>rule-based text cleaning, images resized to 128×128, stratified 80/20 split with a fixed seed.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680960" y="2103120"/>
          <a:ext cx="3657600" cy="2377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45920"/>
                <a:gridCol w="1005840"/>
                <a:gridCol w="100584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73152" marR="73152" marT="27432" marB="27432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L="73152" marR="73152" marT="27432" marB="27432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Share</a:t>
                      </a:r>
                    </a:p>
                  </a:txBody>
                  <a:tcPr marL="73152" marR="73152" marT="27432" marB="27432" anchor="ctr">
                    <a:solidFill>
                      <a:srgbClr val="2563E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374151"/>
                          </a:solidFill>
                          <a:latin typeface="Calibri"/>
                        </a:rPr>
                        <a:t>Neutral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>
                          <a:solidFill>
                            <a:srgbClr val="374151"/>
                          </a:solidFill>
                          <a:latin typeface="Calibri"/>
                        </a:rPr>
                        <a:t>1,771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>
                          <a:solidFill>
                            <a:srgbClr val="374151"/>
                          </a:solidFill>
                          <a:latin typeface="Calibri"/>
                        </a:rPr>
                        <a:t>36.4%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374151"/>
                          </a:solidFill>
                          <a:latin typeface="Calibri"/>
                        </a:rPr>
                        <a:t>Positive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>
                          <a:solidFill>
                            <a:srgbClr val="374151"/>
                          </a:solidFill>
                          <a:latin typeface="Calibri"/>
                        </a:rPr>
                        <a:t>1,646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>
                          <a:solidFill>
                            <a:srgbClr val="374151"/>
                          </a:solidFill>
                          <a:latin typeface="Calibri"/>
                        </a:rPr>
                        <a:t>33.8%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374151"/>
                          </a:solidFill>
                          <a:latin typeface="Calibri"/>
                        </a:rPr>
                        <a:t>Negative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>
                          <a:solidFill>
                            <a:srgbClr val="374151"/>
                          </a:solidFill>
                          <a:latin typeface="Calibri"/>
                        </a:rPr>
                        <a:t>1,452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>
                          <a:solidFill>
                            <a:srgbClr val="374151"/>
                          </a:solidFill>
                          <a:latin typeface="Calibri"/>
                        </a:rPr>
                        <a:t>29.8%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374151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>
                          <a:solidFill>
                            <a:srgbClr val="374151"/>
                          </a:solidFill>
                          <a:latin typeface="Calibri"/>
                        </a:rPr>
                        <a:t>4,869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>
                          <a:solidFill>
                            <a:srgbClr val="374151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680960" y="1828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 i="1">
                <a:solidFill>
                  <a:srgbClr val="6B7280"/>
                </a:solidFill>
                <a:latin typeface="Calibri"/>
              </a:rPr>
              <a:t>Table 1 — Class distribution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Methods — Models</a:t>
            </a:r>
          </a:p>
          <a:p>
            <a:r>
              <a:rPr sz="1500" b="0" i="0">
                <a:solidFill>
                  <a:srgbClr val="6B7280"/>
                </a:solidFill>
                <a:latin typeface="Calibri"/>
              </a:rPr>
              <a:t>Supervised three-class classification; the same tweets feed every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2563EB"/>
                </a:solidFill>
                <a:latin typeface="Calibri"/>
              </a:rPr>
              <a:t>Text pipeline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5120640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20240"/>
                <a:gridCol w="1554480"/>
                <a:gridCol w="1645920"/>
              </a:tblGrid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73152" marR="73152" marT="27432" marB="27432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73152" marR="73152" marT="27432" marB="27432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Representation</a:t>
                      </a:r>
                    </a:p>
                  </a:txBody>
                  <a:tcPr marL="73152" marR="73152" marT="27432" marB="27432" anchor="ctr">
                    <a:solidFill>
                      <a:srgbClr val="2563EB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Naive Bayes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Classical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TF-IDF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Logistic Reg.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Classical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TF-IDF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SVM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Classical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TF-IDF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MLP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Neural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TF-IDF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RNN (plain)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Neural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learned emb.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GloVe+LSTM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Neural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GloVe emb.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355080" y="160020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2563EB"/>
                </a:solidFill>
                <a:latin typeface="Calibri"/>
              </a:rPr>
              <a:t>Image pipeline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355080" y="1965960"/>
          <a:ext cx="502920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1554480"/>
                <a:gridCol w="1463040"/>
              </a:tblGrid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73152" marR="73152" marT="27432" marB="27432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73152" marR="73152" marT="27432" marB="27432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Features</a:t>
                      </a:r>
                    </a:p>
                  </a:txBody>
                  <a:tcPr marL="73152" marR="73152" marT="27432" marB="27432" anchor="ctr">
                    <a:solidFill>
                      <a:srgbClr val="2563EB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CNN (scratch)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From scratch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pixels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MobileNetV2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Transfer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ImageNet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EfficientNetB0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Transfer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ImageNet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55080" y="3977639"/>
            <a:ext cx="50292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35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374151"/>
                </a:solidFill>
                <a:latin typeface="Calibri"/>
              </a:rPr>
              <a:t>Classical TF-IDF models vs. neural sequence models on text.</a:t>
            </a:r>
          </a:p>
          <a:p>
            <a:pPr>
              <a:spcAft>
                <a:spcPts val="800"/>
              </a:spcAft>
            </a:pPr>
            <a:r>
              <a:rPr sz="135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374151"/>
                </a:solidFill>
                <a:latin typeface="Calibri"/>
              </a:rPr>
              <a:t>A from-scratch CNN vs. frozen ImageNet backbones on images.</a:t>
            </a:r>
          </a:p>
          <a:p>
            <a:pPr>
              <a:spcAft>
                <a:spcPts val="800"/>
              </a:spcAft>
            </a:pPr>
            <a:r>
              <a:rPr sz="135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374151"/>
                </a:solidFill>
                <a:latin typeface="Calibri"/>
              </a:rPr>
              <a:t>Tuned on a held-out validation set; scored by accuracy and macro F1.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Methods — Fusion &amp; Evaluation</a:t>
            </a:r>
          </a:p>
          <a:p>
            <a:r>
              <a:rPr sz="1500" b="0" i="0">
                <a:solidFill>
                  <a:srgbClr val="6B7280"/>
                </a:solidFill>
                <a:latin typeface="Calibri"/>
              </a:rPr>
              <a:t>Late fusion combines the two models’ class probabilities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737360"/>
          <a:ext cx="6035040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402336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 marL="73152" marR="73152" marT="27432" marB="27432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How probabilities are combined</a:t>
                      </a:r>
                    </a:p>
                  </a:txBody>
                  <a:tcPr marL="73152" marR="73152" marT="27432" marB="27432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374151"/>
                          </a:solidFill>
                          <a:latin typeface="Calibri"/>
                        </a:rPr>
                        <a:t>Equal average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  <a:latin typeface="Calibri"/>
                        </a:rPr>
                        <a:t>mean of text and image probabilities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374151"/>
                          </a:solidFill>
                          <a:latin typeface="Calibri"/>
                        </a:rPr>
                        <a:t>Weighted average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  <a:latin typeface="Calibri"/>
                        </a:rPr>
                        <a:t>weight on text, remainder on image (tuned)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374151"/>
                          </a:solidFill>
                          <a:latin typeface="Calibri"/>
                        </a:rPr>
                        <a:t>Stacking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  <a:latin typeface="Calibri"/>
                        </a:rPr>
                        <a:t>logistic regression on concatenated probabilities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3703320"/>
            <a:ext cx="6035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 i="1">
                <a:solidFill>
                  <a:srgbClr val="6B7280"/>
                </a:solidFill>
                <a:latin typeface="Calibri"/>
              </a:rPr>
              <a:t>Table 4 — Fusion strategies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6035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74151"/>
                </a:solidFill>
                <a:latin typeface="Calibri"/>
              </a:rPr>
              <a:t>One joint train/test split so both base models see the same tweets.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74151"/>
                </a:solidFill>
                <a:latin typeface="Calibri"/>
              </a:rPr>
              <a:t>Fusion weights tuned on a held-out validation set, never on test.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74151"/>
                </a:solidFill>
                <a:latin typeface="Calibri"/>
              </a:rPr>
              <a:t>Compared against a majority-class baseline (always predicts neutral).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874519"/>
            <a:ext cx="219456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Text model
P(neg, neu, pos)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880360"/>
            <a:ext cx="2194560" cy="731520"/>
          </a:xfrm>
          <a:prstGeom prst="roundRect">
            <a:avLst/>
          </a:prstGeom>
          <a:solidFill>
            <a:srgbClr val="9CA3AF"/>
          </a:solidFill>
          <a:ln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1F2937"/>
                </a:solidFill>
                <a:latin typeface="Calibri"/>
              </a:rPr>
              <a:t>Image model
P(neg, neu, pos)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2377440"/>
            <a:ext cx="1737360" cy="731520"/>
          </a:xfrm>
          <a:prstGeom prst="roundRect">
            <a:avLst/>
          </a:prstGeom>
          <a:solidFill>
            <a:srgbClr val="93B4F5"/>
          </a:solidFill>
          <a:ln>
            <a:solidFill>
              <a:srgbClr val="93B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1F2937"/>
                </a:solidFill>
                <a:latin typeface="Calibri"/>
              </a:rPr>
              <a:t>Combine
(avg / weighted / stacking)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528048" y="2697480"/>
            <a:ext cx="292608" cy="274320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784080" y="3794760"/>
            <a:ext cx="1737360" cy="640080"/>
          </a:xfrm>
          <a:prstGeom prst="roundRect">
            <a:avLst/>
          </a:prstGeom>
          <a:solidFill>
            <a:srgbClr val="1F2937"/>
          </a:solidFill>
          <a:ln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Prediction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0561320" y="3154680"/>
            <a:ext cx="274320" cy="457200"/>
          </a:xfrm>
          <a:prstGeom prst="down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4617720"/>
            <a:ext cx="4389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 i="1">
                <a:solidFill>
                  <a:srgbClr val="6B7280"/>
                </a:solidFill>
                <a:latin typeface="Calibri"/>
              </a:rPr>
              <a:t>Late-fusion schematic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Results — All Models</a:t>
            </a:r>
          </a:p>
          <a:p>
            <a:r>
              <a:rPr sz="1500" b="0" i="0">
                <a:solidFill>
                  <a:srgbClr val="6B7280"/>
                </a:solidFill>
                <a:latin typeface="Calibri"/>
              </a:rPr>
              <a:t>Text leads, image sits near the baseline, multimodal matches text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40080" y="1554480"/>
          <a:ext cx="73152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8229600" y="1737360"/>
            <a:ext cx="201168" cy="20116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0" y="1682495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374151"/>
                </a:solidFill>
                <a:latin typeface="Calibri"/>
              </a:rPr>
              <a:t>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0" y="2057400"/>
            <a:ext cx="201168" cy="201168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0" y="2002536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374151"/>
                </a:solidFill>
                <a:latin typeface="Calibri"/>
              </a:rPr>
              <a:t>Image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2377440"/>
            <a:ext cx="201168" cy="201168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0" y="2322576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374151"/>
                </a:solidFill>
                <a:latin typeface="Calibri"/>
              </a:rPr>
              <a:t>Multimodal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2697480"/>
            <a:ext cx="201168" cy="20116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2642616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374151"/>
                </a:solidFill>
                <a:latin typeface="Calibri"/>
              </a:rPr>
              <a:t>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291840"/>
            <a:ext cx="34747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35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350" b="1" i="0">
                <a:solidFill>
                  <a:srgbClr val="1F2937"/>
                </a:solidFill>
                <a:latin typeface="Calibri"/>
              </a:rPr>
              <a:t>GloVe+LSTM: 73.3%</a:t>
            </a:r>
            <a:r>
              <a:rPr sz="1350" b="0" i="0">
                <a:solidFill>
                  <a:srgbClr val="374151"/>
                </a:solidFill>
                <a:latin typeface="Calibri"/>
              </a:rPr>
              <a:t>  — best overall, ~2× baseline.</a:t>
            </a:r>
          </a:p>
          <a:p>
            <a:pPr>
              <a:spcAft>
                <a:spcPts val="1200"/>
              </a:spcAft>
            </a:pPr>
            <a:r>
              <a:rPr sz="135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350" b="1" i="0">
                <a:solidFill>
                  <a:srgbClr val="1F2937"/>
                </a:solidFill>
                <a:latin typeface="Calibri"/>
              </a:rPr>
              <a:t>Image models: 36–42%</a:t>
            </a:r>
            <a:r>
              <a:rPr sz="1350" b="0" i="0">
                <a:solidFill>
                  <a:srgbClr val="374151"/>
                </a:solidFill>
                <a:latin typeface="Calibri"/>
              </a:rPr>
              <a:t>  — barely above the 36.3% baseline.</a:t>
            </a:r>
          </a:p>
          <a:p>
            <a:pPr>
              <a:spcAft>
                <a:spcPts val="1200"/>
              </a:spcAft>
            </a:pPr>
            <a:r>
              <a:rPr sz="135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350" b="1" i="0">
                <a:solidFill>
                  <a:srgbClr val="1F2937"/>
                </a:solidFill>
                <a:latin typeface="Calibri"/>
              </a:rPr>
              <a:t>Multimodal: ~71%</a:t>
            </a:r>
            <a:r>
              <a:rPr sz="1350" b="0" i="0">
                <a:solidFill>
                  <a:srgbClr val="374151"/>
                </a:solidFill>
                <a:latin typeface="Calibri"/>
              </a:rPr>
              <a:t>  — lands at the text level, not above.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Results — Modality Head-to-Head</a:t>
            </a:r>
          </a:p>
          <a:p>
            <a:r>
              <a:rPr sz="1500" b="0" i="0">
                <a:solidFill>
                  <a:srgbClr val="6B7280"/>
                </a:solidFill>
                <a:latin typeface="Calibri"/>
              </a:rPr>
              <a:t>Fusion inherits the stronger modality; it never beats text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40080" y="1691640"/>
          <a:ext cx="548640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9893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 i="1">
                <a:solidFill>
                  <a:srgbClr val="6B7280"/>
                </a:solidFill>
                <a:latin typeface="Calibri"/>
              </a:rPr>
              <a:t>Best model per pipeline (baseline = 0.363)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92240" y="1783080"/>
          <a:ext cx="502920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37360"/>
                <a:gridCol w="1097280"/>
                <a:gridCol w="1097280"/>
                <a:gridCol w="1097280"/>
              </a:tblGrid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 marL="73152" marR="73152" marT="27432" marB="27432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Fusion</a:t>
                      </a:r>
                    </a:p>
                  </a:txBody>
                  <a:tcPr marL="73152" marR="73152" marT="27432" marB="27432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73152" marR="73152" marT="27432" marB="27432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73152" marR="73152" marT="27432" marB="27432" anchor="ctr">
                    <a:solidFill>
                      <a:srgbClr val="2563EB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Equal average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67.7%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67.8%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38.9%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Weighted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69.5%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70.5%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37.4%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Stacking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70.7%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70.7%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374151"/>
                          </a:solidFill>
                          <a:latin typeface="Calibri"/>
                        </a:rPr>
                        <a:t>37.0%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92240" y="361188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 i="1">
                <a:solidFill>
                  <a:srgbClr val="6B7280"/>
                </a:solidFill>
                <a:latin typeface="Calibri"/>
              </a:rPr>
              <a:t>On one joint split (same tweets for every model)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4023360"/>
            <a:ext cx="50292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74151"/>
                </a:solidFill>
                <a:latin typeface="Calibri"/>
              </a:rPr>
              <a:t>Stacking equals text exactly: both 689 / 974 correct.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74151"/>
                </a:solidFill>
                <a:latin typeface="Calibri"/>
              </a:rPr>
              <a:t>No fusion scheme beats text; the weighted average dips below it.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74151"/>
                </a:solidFill>
                <a:latin typeface="Calibri"/>
              </a:rPr>
              <a:t>The image model is near-noise, so it cannot help at any weight.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74151"/>
                </a:solidFill>
                <a:latin typeface="Calibri"/>
              </a:rPr>
              <a:t>Image ceiling is principled: a CNN cannot read overlaid caption text.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Conclusion</a:t>
            </a:r>
          </a:p>
          <a:p>
            <a:r>
              <a:rPr sz="1500" b="0" i="0">
                <a:solidFill>
                  <a:srgbClr val="6B7280"/>
                </a:solidFill>
                <a:latin typeface="Calibri"/>
              </a:rPr>
              <a:t>More data is only more information when it carries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98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75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750" b="1" i="0">
                <a:solidFill>
                  <a:srgbClr val="1F2937"/>
                </a:solidFill>
                <a:latin typeface="Calibri"/>
              </a:rPr>
              <a:t>Text is the decisive modality.  </a:t>
            </a:r>
            <a:r>
              <a:rPr sz="1750" b="0" i="0">
                <a:solidFill>
                  <a:srgbClr val="374151"/>
                </a:solidFill>
                <a:latin typeface="Calibri"/>
              </a:rPr>
              <a:t>The GloVe+LSTM reaches 73.3%, roughly double the baseline.</a:t>
            </a:r>
          </a:p>
          <a:p>
            <a:pPr>
              <a:spcAft>
                <a:spcPts val="1400"/>
              </a:spcAft>
            </a:pPr>
            <a:r>
              <a:rPr sz="175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750" b="1" i="0">
                <a:solidFill>
                  <a:srgbClr val="1F2937"/>
                </a:solidFill>
                <a:latin typeface="Calibri"/>
              </a:rPr>
              <a:t>The image ceiling is principled.  </a:t>
            </a:r>
            <a:r>
              <a:rPr sz="1750" b="0" i="0">
                <a:solidFill>
                  <a:srgbClr val="374151"/>
                </a:solidFill>
                <a:latin typeface="Calibri"/>
              </a:rPr>
              <a:t>Sentiment lives in overlaid caption text a CNN cannot read, so image models plateau near the baseline.</a:t>
            </a:r>
          </a:p>
          <a:p>
            <a:pPr>
              <a:spcAft>
                <a:spcPts val="1400"/>
              </a:spcAft>
            </a:pPr>
            <a:r>
              <a:rPr sz="175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750" b="1" i="0">
                <a:solidFill>
                  <a:srgbClr val="1F2937"/>
                </a:solidFill>
                <a:latin typeface="Calibri"/>
              </a:rPr>
              <a:t>Fusion matches but never exceeds text.  </a:t>
            </a:r>
            <a:r>
              <a:rPr sz="1750" b="0" i="0">
                <a:solidFill>
                  <a:srgbClr val="374151"/>
                </a:solidFill>
                <a:latin typeface="Calibri"/>
              </a:rPr>
              <a:t>Combining a strong modality with a near-noise one yields no gain at any weighting.</a:t>
            </a:r>
          </a:p>
          <a:p>
            <a:pPr>
              <a:spcAft>
                <a:spcPts val="1400"/>
              </a:spcAft>
            </a:pPr>
            <a:r>
              <a:rPr sz="175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750" b="1" i="0">
                <a:solidFill>
                  <a:srgbClr val="1F2937"/>
                </a:solidFill>
                <a:latin typeface="Calibri"/>
              </a:rPr>
              <a:t>Methods lessons.  </a:t>
            </a:r>
            <a:r>
              <a:rPr sz="1750" b="0" i="0">
                <a:solidFill>
                  <a:srgbClr val="374151"/>
                </a:solidFill>
                <a:latin typeface="Calibri"/>
              </a:rPr>
              <a:t>Engineered features beat a from-scratch RNN on small data, and pretrained GloVe embeddings rescued the LSTM, a direct win for transfer learning.</a:t>
            </a:r>
          </a:p>
          <a:p>
            <a:pPr>
              <a:spcAft>
                <a:spcPts val="1400"/>
              </a:spcAft>
            </a:pPr>
            <a:r>
              <a:rPr sz="175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750" b="1" i="0">
                <a:solidFill>
                  <a:srgbClr val="1F2937"/>
                </a:solidFill>
                <a:latin typeface="Calibri"/>
              </a:rPr>
              <a:t>Next step.  </a:t>
            </a:r>
            <a:r>
              <a:rPr sz="1750" b="0" i="0">
                <a:solidFill>
                  <a:srgbClr val="374151"/>
                </a:solidFill>
                <a:latin typeface="Calibri"/>
              </a:rPr>
              <a:t>Read the overlaid text with OCR, or use a vision-language model such as CLIP, to recover image signal.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